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CaminoSeguro IA como propuesta de asistencia complementaria, todavía experimental. Abrir con una frase breve y el origen personal del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Evitar hablar de datos clínicos de familiares más allá de lo que voluntariamente se compartió. El caso es una motivación, no una prueba con participantes.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flujo de inferencia. La aplicación clasifica la imagen completa y no ubica objetos ni estima distancias.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afirmar que detecta todos los tipos de peligros; la red solo devuelve una de estas seis etiquetas.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cantidades provienen de capturas de Teachable Machine: LIBRE 1461, OBSTACULO 1003, DESNIVEL 1078, ESCALERA_BAJA 603, ESCALERA_SUBE 533, CALLE 377. No representan imágenes de validación independientes.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acceso móvil por HTTPS está documentado mediante capturas. No se ha demostrado fiabilidad de uso autónomo.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captura corresponde a una presentación de la interfaz, no a una prueba estadística. Señalar controles y visualización de clases.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captura muestra la web abierta en el iPhone, pero con cámara detenida. No describirla como prueba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82 % no es precisión. En escritorio hay periodos de silencio para alertas repetidas y prioridad a mensajes recientes.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cifras son niveles de confianza individuales de ejemplos seleccionados, no tasa global de aciertos.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usar como sustituto del bastón, acompañamiento ni para cruzar calles. La prueba controlada debe ser futura, con protocolo y consentimiento.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continuidad como proyecto de la materia, no aprobación de uso clínico. Distancia es una función futura, no implementada hoy.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solicitud concreta: autorización para continuar validando y evolucionando el prototipo. Mostrar una demo si está preparada; tener captura de respaldo si falla la conectividad.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8567"/>
          </a:solidFill>
          <a:ln w="12700">
            <a:solidFill>
              <a:srgbClr val="1685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6517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CAMINOSEGURO  /  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75320" y="26517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PROPUESTA DE VALOR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92840" y="652881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0" y="1143000"/>
            <a:ext cx="4114800" cy="4114800"/>
          </a:xfrm>
          <a:prstGeom prst="ellipse">
            <a:avLst/>
          </a:prstGeom>
          <a:solidFill>
            <a:srgbClr val="E3F4EB"/>
          </a:solidFill>
          <a:ln w="12700">
            <a:solidFill>
              <a:srgbClr val="E3F4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74152" y="1581912"/>
            <a:ext cx="2834640" cy="3227832"/>
          </a:xfrm>
          <a:prstGeom prst="roundRect">
            <a:avLst>
              <a:gd name="adj" fmla="val 7097"/>
            </a:avLst>
          </a:prstGeom>
          <a:solidFill>
            <a:srgbClr val="FFFFFF"/>
          </a:solidFill>
          <a:ln w="8890">
            <a:solidFill>
              <a:srgbClr val="DAEA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0" y="185623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300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👁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8321040" y="2990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+ cámara + voz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21040" y="367588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advertencia a tiempo puede cambiar un camino.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0936" y="1545336"/>
            <a:ext cx="2148840" cy="384048"/>
          </a:xfrm>
          <a:prstGeom prst="roundRect">
            <a:avLst>
              <a:gd name="adj" fmla="val 33333"/>
            </a:avLst>
          </a:prstGeom>
          <a:solidFill>
            <a:srgbClr val="E3F4EB"/>
          </a:solidFill>
          <a:ln w="8890">
            <a:solidFill>
              <a:srgbClr val="E3F4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1627632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PROTOTIPO ACADÉMICO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" y="2212848"/>
            <a:ext cx="68580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CaminoSeguro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630936" y="3017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40080" y="3913632"/>
            <a:ext cx="6537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Tecnología que ayuda a reconocer el camino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640080" y="56235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Cabrera Gutiérrez  ·  Ingeniería en Inteligencia Artificial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6035040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UCB San Pablo  ·  Octubre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8567"/>
          </a:solidFill>
          <a:ln w="12700">
            <a:solidFill>
              <a:srgbClr val="1685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6517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CAMINOSEGURO  /  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75320" y="26517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92840" y="652881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85216" y="822960"/>
            <a:ext cx="566928" cy="384048"/>
          </a:xfrm>
          <a:prstGeom prst="roundRect">
            <a:avLst>
              <a:gd name="adj" fmla="val 33333"/>
            </a:avLst>
          </a:prstGeom>
          <a:solidFill>
            <a:srgbClr val="E3F4EB"/>
          </a:solidFill>
          <a:ln w="8890">
            <a:solidFill>
              <a:srgbClr val="E3F4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90525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07592" y="722376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dificultad no es solo ver menos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07592" y="135331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no saber con suficiente anticipación qué hay en el camino.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7512" y="2011680"/>
            <a:ext cx="6675120" cy="3383280"/>
          </a:xfrm>
          <a:prstGeom prst="roundRect">
            <a:avLst>
              <a:gd name="adj" fmla="val 5946"/>
            </a:avLst>
          </a:prstGeom>
          <a:solidFill>
            <a:srgbClr val="FFFFFF"/>
          </a:solidFill>
          <a:ln w="8890">
            <a:solidFill>
              <a:srgbClr val="DAEA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432304"/>
            <a:ext cx="59161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i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“Mi abuelita tiene glaucoma. A veces ve el entorno, pero no distingue qué tiene delante y necesita que alguien la acompañe.”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051560" y="4270248"/>
            <a:ext cx="5815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desafío: reconocer peligros cotidianos antes de tropezar o lastimarse.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616952" y="2029968"/>
            <a:ext cx="3785616" cy="978408"/>
          </a:xfrm>
          <a:prstGeom prst="roundRect">
            <a:avLst>
              <a:gd name="adj" fmla="val 20561"/>
            </a:avLst>
          </a:prstGeom>
          <a:solidFill>
            <a:srgbClr val="E3F4EB"/>
          </a:solidFill>
          <a:ln w="8890">
            <a:solidFill>
              <a:srgbClr val="DAEA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560" y="232257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Desniveles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616952" y="3200400"/>
            <a:ext cx="3785616" cy="978408"/>
          </a:xfrm>
          <a:prstGeom prst="roundRect">
            <a:avLst>
              <a:gd name="adj" fmla="val 20561"/>
            </a:avLst>
          </a:prstGeom>
          <a:solidFill>
            <a:srgbClr val="E3F4EB"/>
          </a:solidFill>
          <a:ln w="8890">
            <a:solidFill>
              <a:srgbClr val="DAEA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09560" y="34930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Escaleras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616952" y="4370832"/>
            <a:ext cx="3785616" cy="978408"/>
          </a:xfrm>
          <a:prstGeom prst="roundRect">
            <a:avLst>
              <a:gd name="adj" fmla="val 20561"/>
            </a:avLst>
          </a:prstGeom>
          <a:solidFill>
            <a:srgbClr val="E3F4EB"/>
          </a:solidFill>
          <a:ln w="8890">
            <a:solidFill>
              <a:srgbClr val="DAEA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09560" y="46634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Obstáculos y calzadas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8567"/>
          </a:solidFill>
          <a:ln w="12700">
            <a:solidFill>
              <a:srgbClr val="1685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6517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CAMINOSEGURO  /  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75320" y="26517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SOLUCIÓN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92840" y="652881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85216" y="822960"/>
            <a:ext cx="566928" cy="384048"/>
          </a:xfrm>
          <a:prstGeom prst="roundRect">
            <a:avLst>
              <a:gd name="adj" fmla="val 33333"/>
            </a:avLst>
          </a:prstGeom>
          <a:solidFill>
            <a:srgbClr val="E3F4EB"/>
          </a:solidFill>
          <a:ln w="8890">
            <a:solidFill>
              <a:srgbClr val="E3F4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90525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07592" y="722376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una imagen a una advertencia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07592" y="135331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flujo sencillo pensado para funcionar con la cámara disponible.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" y="2423160"/>
            <a:ext cx="2670048" cy="2286000"/>
          </a:xfrm>
          <a:prstGeom prst="roundRect">
            <a:avLst>
              <a:gd name="adj" fmla="val 8800"/>
            </a:avLst>
          </a:prstGeom>
          <a:solidFill>
            <a:srgbClr val="FFFFFF"/>
          </a:solidFill>
          <a:ln w="8890">
            <a:solidFill>
              <a:srgbClr val="DAEA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624328"/>
            <a:ext cx="594360" cy="384048"/>
          </a:xfrm>
          <a:prstGeom prst="roundRect">
            <a:avLst>
              <a:gd name="adj" fmla="val 33333"/>
            </a:avLst>
          </a:prstGeom>
          <a:solidFill>
            <a:srgbClr val="E3F4EB"/>
          </a:solidFill>
          <a:ln w="8890">
            <a:solidFill>
              <a:srgbClr val="E3F4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706624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5528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CÁMARA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95528" y="3721608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Capta una escena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82696" y="320040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500" dirty="0"/>
          </a:p>
        </p:txBody>
      </p:sp>
      <p:sp>
        <p:nvSpPr>
          <p:cNvPr id="16" name="Shape 14"/>
          <p:cNvSpPr/>
          <p:nvPr/>
        </p:nvSpPr>
        <p:spPr>
          <a:xfrm>
            <a:off x="3520440" y="2423160"/>
            <a:ext cx="2670048" cy="2286000"/>
          </a:xfrm>
          <a:prstGeom prst="roundRect">
            <a:avLst>
              <a:gd name="adj" fmla="val 8800"/>
            </a:avLst>
          </a:prstGeom>
          <a:solidFill>
            <a:srgbClr val="FFFFFF"/>
          </a:solidFill>
          <a:ln w="8890">
            <a:solidFill>
              <a:srgbClr val="DAEA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03320" y="2624328"/>
            <a:ext cx="594360" cy="384048"/>
          </a:xfrm>
          <a:prstGeom prst="roundRect">
            <a:avLst>
              <a:gd name="adj" fmla="val 33333"/>
            </a:avLst>
          </a:prstGeom>
          <a:solidFill>
            <a:srgbClr val="E3F4EB"/>
          </a:solidFill>
          <a:ln w="8890">
            <a:solidFill>
              <a:srgbClr val="E3F4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31336" y="2706624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94176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IA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3694176" y="3721608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 la imagen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81344" y="320040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500" dirty="0"/>
          </a:p>
        </p:txBody>
      </p:sp>
      <p:sp>
        <p:nvSpPr>
          <p:cNvPr id="22" name="Shape 20"/>
          <p:cNvSpPr/>
          <p:nvPr/>
        </p:nvSpPr>
        <p:spPr>
          <a:xfrm>
            <a:off x="6419088" y="2423160"/>
            <a:ext cx="2670048" cy="2286000"/>
          </a:xfrm>
          <a:prstGeom prst="roundRect">
            <a:avLst>
              <a:gd name="adj" fmla="val 8800"/>
            </a:avLst>
          </a:prstGeom>
          <a:solidFill>
            <a:srgbClr val="FFFFFF"/>
          </a:solidFill>
          <a:ln w="8890">
            <a:solidFill>
              <a:srgbClr val="DAEA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01968" y="2624328"/>
            <a:ext cx="594360" cy="384048"/>
          </a:xfrm>
          <a:prstGeom prst="roundRect">
            <a:avLst>
              <a:gd name="adj" fmla="val 33333"/>
            </a:avLst>
          </a:prstGeom>
          <a:solidFill>
            <a:srgbClr val="E3F4EB"/>
          </a:solidFill>
          <a:ln w="8890">
            <a:solidFill>
              <a:srgbClr val="E3F4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9984" y="2706624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92824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FILTRO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592824" y="3721608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Exige consistencia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079992" y="320040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500" dirty="0"/>
          </a:p>
        </p:txBody>
      </p:sp>
      <p:sp>
        <p:nvSpPr>
          <p:cNvPr id="28" name="Shape 26"/>
          <p:cNvSpPr/>
          <p:nvPr/>
        </p:nvSpPr>
        <p:spPr>
          <a:xfrm>
            <a:off x="9317736" y="2423160"/>
            <a:ext cx="2670048" cy="2286000"/>
          </a:xfrm>
          <a:prstGeom prst="roundRect">
            <a:avLst>
              <a:gd name="adj" fmla="val 8800"/>
            </a:avLst>
          </a:prstGeom>
          <a:solidFill>
            <a:srgbClr val="FFFFFF"/>
          </a:solidFill>
          <a:ln w="8890">
            <a:solidFill>
              <a:srgbClr val="DAEA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0616" y="2624328"/>
            <a:ext cx="594360" cy="384048"/>
          </a:xfrm>
          <a:prstGeom prst="roundRect">
            <a:avLst>
              <a:gd name="adj" fmla="val 33333"/>
            </a:avLst>
          </a:prstGeom>
          <a:solidFill>
            <a:srgbClr val="E3F4EB"/>
          </a:solidFill>
          <a:ln w="8890">
            <a:solidFill>
              <a:srgbClr val="E3F4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28632" y="2706624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491472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VOZ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9491472" y="3721608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Comunica el riesgo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2240280" y="5166360"/>
            <a:ext cx="7818120" cy="640080"/>
          </a:xfrm>
          <a:prstGeom prst="roundRect">
            <a:avLst>
              <a:gd name="adj" fmla="val 31429"/>
            </a:avLst>
          </a:prstGeom>
          <a:solidFill>
            <a:srgbClr val="E3F4EB"/>
          </a:solidFill>
          <a:ln w="8890">
            <a:solidFill>
              <a:srgbClr val="DAEA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96312" y="53492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requiere interpretar una pantalla: el objetivo es escuchar avisos oportunos.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8567"/>
          </a:solidFill>
          <a:ln w="12700">
            <a:solidFill>
              <a:srgbClr val="1685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6517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CAMINOSEGURO  /  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75320" y="26517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RECONOCE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92840" y="652881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85216" y="822960"/>
            <a:ext cx="566928" cy="384048"/>
          </a:xfrm>
          <a:prstGeom prst="roundRect">
            <a:avLst>
              <a:gd name="adj" fmla="val 33333"/>
            </a:avLst>
          </a:prstGeom>
          <a:solidFill>
            <a:srgbClr val="E3F4EB"/>
          </a:solidFill>
          <a:ln w="8890">
            <a:solidFill>
              <a:srgbClr val="E3F4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90525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07592" y="722376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Seis situaciones, un solo modelo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07592" y="135331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Categorías aprendidas mediante ejemplos visuales.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103120"/>
            <a:ext cx="3538728" cy="1325880"/>
          </a:xfrm>
          <a:prstGeom prst="roundRect">
            <a:avLst>
              <a:gd name="adj" fmla="val 15172"/>
            </a:avLst>
          </a:prstGeom>
          <a:solidFill>
            <a:srgbClr val="FFFFFF"/>
          </a:solidFill>
          <a:ln w="8890">
            <a:solidFill>
              <a:srgbClr val="DAEA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414016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🚶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664208" y="254203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LIBRE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90288" y="2103120"/>
            <a:ext cx="3538728" cy="1325880"/>
          </a:xfrm>
          <a:prstGeom prst="roundRect">
            <a:avLst>
              <a:gd name="adj" fmla="val 15172"/>
            </a:avLst>
          </a:prstGeom>
          <a:solidFill>
            <a:srgbClr val="FFFFFF"/>
          </a:solidFill>
          <a:ln w="8890">
            <a:solidFill>
              <a:srgbClr val="DAEA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2414016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🚧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522976" y="254203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OBSTÁCULO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449056" y="2103120"/>
            <a:ext cx="3538728" cy="1325880"/>
          </a:xfrm>
          <a:prstGeom prst="roundRect">
            <a:avLst>
              <a:gd name="adj" fmla="val 15172"/>
            </a:avLst>
          </a:prstGeom>
          <a:solidFill>
            <a:srgbClr val="FFFFFF"/>
          </a:solidFill>
          <a:ln w="8890">
            <a:solidFill>
              <a:srgbClr val="DAEA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68512" y="2414016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⚠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381744" y="254203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DESNIVEL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" y="3749040"/>
            <a:ext cx="3538728" cy="1325880"/>
          </a:xfrm>
          <a:prstGeom prst="roundRect">
            <a:avLst>
              <a:gd name="adj" fmla="val 15172"/>
            </a:avLst>
          </a:prstGeom>
          <a:solidFill>
            <a:srgbClr val="FFFFFF"/>
          </a:solidFill>
          <a:ln w="8890">
            <a:solidFill>
              <a:srgbClr val="DAEA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4059936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⬇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664208" y="418795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ESCALERA BAJA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590288" y="3749040"/>
            <a:ext cx="3538728" cy="1325880"/>
          </a:xfrm>
          <a:prstGeom prst="roundRect">
            <a:avLst>
              <a:gd name="adj" fmla="val 15172"/>
            </a:avLst>
          </a:prstGeom>
          <a:solidFill>
            <a:srgbClr val="FFFFFF"/>
          </a:solidFill>
          <a:ln w="8890">
            <a:solidFill>
              <a:srgbClr val="DAEA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4059936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⬆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522976" y="418795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ESCALERA SUBE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449056" y="3749040"/>
            <a:ext cx="3538728" cy="1325880"/>
          </a:xfrm>
          <a:prstGeom prst="roundRect">
            <a:avLst>
              <a:gd name="adj" fmla="val 15172"/>
            </a:avLst>
          </a:prstGeom>
          <a:solidFill>
            <a:srgbClr val="FFFFFF"/>
          </a:solidFill>
          <a:ln w="8890">
            <a:solidFill>
              <a:srgbClr val="DAEA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68512" y="4059936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🚦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381744" y="418795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8567"/>
          </a:solidFill>
          <a:ln w="12700">
            <a:solidFill>
              <a:srgbClr val="1685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6517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CAMINOSEGURO  /  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75320" y="26517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ENTRENAMIENTO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92840" y="652881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85216" y="822960"/>
            <a:ext cx="566928" cy="384048"/>
          </a:xfrm>
          <a:prstGeom prst="roundRect">
            <a:avLst>
              <a:gd name="adj" fmla="val 33333"/>
            </a:avLst>
          </a:prstGeom>
          <a:solidFill>
            <a:srgbClr val="E3F4EB"/>
          </a:solidFill>
          <a:ln w="8890">
            <a:solidFill>
              <a:srgbClr val="E3F4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90525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07592" y="722376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5.055 muestras para enseñar a la IA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07592" y="135331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Fotografías tomadas principalmente con webcam desde una perspectiva cercana a la de un teléfono.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1965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LIBRE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0" y="2002536"/>
            <a:ext cx="6702552" cy="246888"/>
          </a:xfrm>
          <a:prstGeom prst="roundRect">
            <a:avLst>
              <a:gd name="adj" fmla="val 44444"/>
            </a:avLst>
          </a:prstGeom>
          <a:solidFill>
            <a:srgbClr val="E3F4EB"/>
          </a:solidFill>
          <a:ln w="12700">
            <a:solidFill>
              <a:srgbClr val="E3F4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2002536"/>
            <a:ext cx="6702552" cy="246888"/>
          </a:xfrm>
          <a:prstGeom prst="roundRect">
            <a:avLst>
              <a:gd name="adj" fmla="val 44444"/>
            </a:avLst>
          </a:prstGeom>
          <a:solidFill>
            <a:srgbClr val="168567"/>
          </a:solidFill>
          <a:ln w="12700">
            <a:solidFill>
              <a:srgbClr val="1685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10928" y="19659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1.461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1248" y="25877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DESNIVEL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43200" y="2624328"/>
            <a:ext cx="6702552" cy="246888"/>
          </a:xfrm>
          <a:prstGeom prst="roundRect">
            <a:avLst>
              <a:gd name="adj" fmla="val 44444"/>
            </a:avLst>
          </a:prstGeom>
          <a:solidFill>
            <a:srgbClr val="E3F4EB"/>
          </a:solidFill>
          <a:ln w="12700">
            <a:solidFill>
              <a:srgbClr val="E3F4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24328"/>
            <a:ext cx="4945483" cy="246888"/>
          </a:xfrm>
          <a:prstGeom prst="roundRect">
            <a:avLst>
              <a:gd name="adj" fmla="val 44444"/>
            </a:avLst>
          </a:prstGeom>
          <a:solidFill>
            <a:srgbClr val="168567"/>
          </a:solidFill>
          <a:ln w="12700">
            <a:solidFill>
              <a:srgbClr val="1685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10928" y="258775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1.078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" y="32095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OBSTÁCULO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743200" y="3246120"/>
            <a:ext cx="6702552" cy="246888"/>
          </a:xfrm>
          <a:prstGeom prst="roundRect">
            <a:avLst>
              <a:gd name="adj" fmla="val 44444"/>
            </a:avLst>
          </a:prstGeom>
          <a:solidFill>
            <a:srgbClr val="E3F4EB"/>
          </a:solidFill>
          <a:ln w="12700">
            <a:solidFill>
              <a:srgbClr val="E3F4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3246120"/>
            <a:ext cx="4601410" cy="246888"/>
          </a:xfrm>
          <a:prstGeom prst="roundRect">
            <a:avLst>
              <a:gd name="adj" fmla="val 44444"/>
            </a:avLst>
          </a:prstGeom>
          <a:solidFill>
            <a:srgbClr val="168567"/>
          </a:solidFill>
          <a:ln w="12700">
            <a:solidFill>
              <a:srgbClr val="1685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10928" y="32095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1248" y="38313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ESC. BAJA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743200" y="3867912"/>
            <a:ext cx="6702552" cy="246888"/>
          </a:xfrm>
          <a:prstGeom prst="roundRect">
            <a:avLst>
              <a:gd name="adj" fmla="val 44444"/>
            </a:avLst>
          </a:prstGeom>
          <a:solidFill>
            <a:srgbClr val="E3F4EB"/>
          </a:solidFill>
          <a:ln w="12700">
            <a:solidFill>
              <a:srgbClr val="E3F4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0" y="3867912"/>
            <a:ext cx="2766351" cy="246888"/>
          </a:xfrm>
          <a:prstGeom prst="roundRect">
            <a:avLst>
              <a:gd name="adj" fmla="val 44444"/>
            </a:avLst>
          </a:prstGeom>
          <a:solidFill>
            <a:srgbClr val="168567"/>
          </a:solidFill>
          <a:ln w="12700">
            <a:solidFill>
              <a:srgbClr val="16856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10928" y="383133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603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41248" y="44531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ESC. SUBE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2743200" y="4489704"/>
            <a:ext cx="6702552" cy="246888"/>
          </a:xfrm>
          <a:prstGeom prst="roundRect">
            <a:avLst>
              <a:gd name="adj" fmla="val 44444"/>
            </a:avLst>
          </a:prstGeom>
          <a:solidFill>
            <a:srgbClr val="E3F4EB"/>
          </a:solidFill>
          <a:ln w="12700">
            <a:solidFill>
              <a:srgbClr val="E3F4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0" y="4489704"/>
            <a:ext cx="2445216" cy="246888"/>
          </a:xfrm>
          <a:prstGeom prst="roundRect">
            <a:avLst>
              <a:gd name="adj" fmla="val 44444"/>
            </a:avLst>
          </a:prstGeom>
          <a:solidFill>
            <a:srgbClr val="168567"/>
          </a:solidFill>
          <a:ln w="12700">
            <a:solidFill>
              <a:srgbClr val="16856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10928" y="445312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533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41248" y="5074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CALLE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2743200" y="5111496"/>
            <a:ext cx="6702552" cy="246888"/>
          </a:xfrm>
          <a:prstGeom prst="roundRect">
            <a:avLst>
              <a:gd name="adj" fmla="val 44444"/>
            </a:avLst>
          </a:prstGeom>
          <a:solidFill>
            <a:srgbClr val="E3F4EB"/>
          </a:solidFill>
          <a:ln w="12700">
            <a:solidFill>
              <a:srgbClr val="E3F4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5111496"/>
            <a:ext cx="1729543" cy="246888"/>
          </a:xfrm>
          <a:prstGeom prst="roundRect">
            <a:avLst>
              <a:gd name="adj" fmla="val 44444"/>
            </a:avLst>
          </a:prstGeom>
          <a:solidFill>
            <a:srgbClr val="168567"/>
          </a:solidFill>
          <a:ln w="12700">
            <a:solidFill>
              <a:srgbClr val="16856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10928" y="50749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377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41248" y="5989320"/>
            <a:ext cx="10469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muestras tienen distribución desigual y algunas son capturas consecutivas de una misma escena.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8567"/>
          </a:solidFill>
          <a:ln w="12700">
            <a:solidFill>
              <a:srgbClr val="1685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6517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CAMINOSEGURO  /  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75320" y="26517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TECNOLOGÍA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92840" y="652881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85216" y="822960"/>
            <a:ext cx="566928" cy="384048"/>
          </a:xfrm>
          <a:prstGeom prst="roundRect">
            <a:avLst>
              <a:gd name="adj" fmla="val 33333"/>
            </a:avLst>
          </a:prstGeom>
          <a:solidFill>
            <a:srgbClr val="E3F4EB"/>
          </a:solidFill>
          <a:ln w="8890">
            <a:solidFill>
              <a:srgbClr val="E3F4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90525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07592" y="722376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IA, dos formas de utilizarla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07592" y="135331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original se exportó para escritorio y navegador.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1993392"/>
            <a:ext cx="5321808" cy="3621024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8890">
            <a:solidFill>
              <a:srgbClr val="DAEA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81344" y="1993392"/>
            <a:ext cx="5321808" cy="3621024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8890">
            <a:solidFill>
              <a:srgbClr val="DAEA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1832" y="2258568"/>
            <a:ext cx="1645920" cy="384048"/>
          </a:xfrm>
          <a:prstGeom prst="roundRect">
            <a:avLst>
              <a:gd name="adj" fmla="val 33333"/>
            </a:avLst>
          </a:prstGeom>
          <a:solidFill>
            <a:srgbClr val="E3F4EB"/>
          </a:solidFill>
          <a:ln w="8890">
            <a:solidFill>
              <a:srgbClr val="E3F4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34086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ESCRITORIO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19088" y="2258568"/>
            <a:ext cx="1755648" cy="384048"/>
          </a:xfrm>
          <a:prstGeom prst="roundRect">
            <a:avLst>
              <a:gd name="adj" fmla="val 33333"/>
            </a:avLst>
          </a:prstGeom>
          <a:solidFill>
            <a:srgbClr val="E3F4EB"/>
          </a:solidFill>
          <a:ln w="8890">
            <a:solidFill>
              <a:srgbClr val="E3F4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7104" y="234086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/ IPHONE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50976" y="2889504"/>
            <a:ext cx="47000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· TensorFlow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950976" y="3493008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OpenCV · PySide6 · SAPI Windows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37376" y="2889504"/>
            <a:ext cx="45537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· CSS · JavaScript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37376" y="3493008"/>
            <a:ext cx="45445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TensorFlow.js · voz del navegador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0976" y="4343400"/>
            <a:ext cx="4462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de 6 clases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RGB de 224 × 224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37376" y="43434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Interfaz adaptable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 desde móvil por HTTPS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8567"/>
          </a:solidFill>
          <a:ln w="12700">
            <a:solidFill>
              <a:srgbClr val="1685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6517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CAMINOSEGURO  /  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75320" y="26517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EN PANTALLA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92840" y="652881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85216" y="822960"/>
            <a:ext cx="566928" cy="384048"/>
          </a:xfrm>
          <a:prstGeom prst="roundRect">
            <a:avLst>
              <a:gd name="adj" fmla="val 33333"/>
            </a:avLst>
          </a:prstGeom>
          <a:solidFill>
            <a:srgbClr val="E3F4EB"/>
          </a:solidFill>
          <a:ln w="8890">
            <a:solidFill>
              <a:srgbClr val="E3F4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90525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07592" y="722376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experiencia ya se puede demostrar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07592" y="135331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muestra la clase dominante y probabilidades de las seis categorías.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1828800"/>
            <a:ext cx="10835640" cy="4297680"/>
          </a:xfrm>
          <a:prstGeom prst="roundRect">
            <a:avLst>
              <a:gd name="adj" fmla="val 4681"/>
            </a:avLst>
          </a:prstGeom>
          <a:solidFill>
            <a:srgbClr val="FFFFFF"/>
          </a:solidFill>
          <a:ln w="8890">
            <a:solidFill>
              <a:srgbClr val="DAEAE2"/>
            </a:solidFill>
            <a:prstDash val="solid"/>
          </a:ln>
        </p:spPr>
      </p:sp>
      <p:pic>
        <p:nvPicPr>
          <p:cNvPr id="11" name="Image 0" descr="/mnt/data/image(20261017-002129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029968"/>
            <a:ext cx="10314432" cy="376732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622706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Vista web en pantalla amplia — ejemplo de la interfaz del prototipo.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8567"/>
          </a:solidFill>
          <a:ln w="12700">
            <a:solidFill>
              <a:srgbClr val="1685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6517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CAMINOSEGURO  /  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75320" y="26517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MÓVIL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92840" y="652881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85216" y="822960"/>
            <a:ext cx="566928" cy="384048"/>
          </a:xfrm>
          <a:prstGeom prst="roundRect">
            <a:avLst>
              <a:gd name="adj" fmla="val 33333"/>
            </a:avLst>
          </a:prstGeom>
          <a:solidFill>
            <a:srgbClr val="E3F4EB"/>
          </a:solidFill>
          <a:ln w="8890">
            <a:solidFill>
              <a:srgbClr val="E3F4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90525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07592" y="722376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Llevar el prototipo al teléfono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07592" y="135331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 por HTTPS con diseño adaptado al tamaño de pantalla.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86384" y="1892808"/>
            <a:ext cx="3657600" cy="433425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890">
            <a:solidFill>
              <a:srgbClr val="DAEAE2"/>
            </a:solidFill>
            <a:prstDash val="solid"/>
          </a:ln>
        </p:spPr>
      </p:sp>
      <p:pic>
        <p:nvPicPr>
          <p:cNvPr id="11" name="Image 0" descr="/mnt/data/WhatsApp Image 2026-10-16 at 8.20.55 PM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464" y="2066544"/>
            <a:ext cx="2313432" cy="38862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919472" y="2157984"/>
            <a:ext cx="6345936" cy="3529584"/>
          </a:xfrm>
          <a:prstGeom prst="roundRect">
            <a:avLst>
              <a:gd name="adj" fmla="val 5699"/>
            </a:avLst>
          </a:prstGeom>
          <a:solidFill>
            <a:srgbClr val="FFFFFF"/>
          </a:solidFill>
          <a:ln w="8890">
            <a:solidFill>
              <a:srgbClr val="DAEAE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03520" y="2505456"/>
            <a:ext cx="5458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Pensado para el entorno real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5367528" y="3200400"/>
            <a:ext cx="530352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Cámara desde iPhone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Botones grandes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Alertas de voz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Umbral configurable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Historial de avisos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8567"/>
          </a:solidFill>
          <a:ln w="12700">
            <a:solidFill>
              <a:srgbClr val="1685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6517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CAMINOSEGURO  /  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75320" y="26517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LÓGICA DE ALERTAS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92840" y="652881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85216" y="822960"/>
            <a:ext cx="566928" cy="384048"/>
          </a:xfrm>
          <a:prstGeom prst="roundRect">
            <a:avLst>
              <a:gd name="adj" fmla="val 33333"/>
            </a:avLst>
          </a:prstGeom>
          <a:solidFill>
            <a:srgbClr val="E3F4EB"/>
          </a:solidFill>
          <a:ln w="8890">
            <a:solidFill>
              <a:srgbClr val="E3F4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90525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07592" y="722376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Hablar cuando la detección es consistente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07592" y="135331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Reducir avisos impulsivos es tan importante como clasificar.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5148072" cy="3136392"/>
          </a:xfrm>
          <a:prstGeom prst="roundRect">
            <a:avLst>
              <a:gd name="adj" fmla="val 6414"/>
            </a:avLst>
          </a:prstGeom>
          <a:solidFill>
            <a:srgbClr val="FFFFFF"/>
          </a:solidFill>
          <a:ln w="8890">
            <a:solidFill>
              <a:srgbClr val="DAEA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2505456"/>
            <a:ext cx="4242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82 %</a:t>
            </a:r>
            <a:endParaRPr lang="en-US" sz="5500" dirty="0"/>
          </a:p>
        </p:txBody>
      </p:sp>
      <p:sp>
        <p:nvSpPr>
          <p:cNvPr id="12" name="Text 10"/>
          <p:cNvSpPr/>
          <p:nvPr/>
        </p:nvSpPr>
        <p:spPr>
          <a:xfrm>
            <a:off x="1069848" y="376732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Confianza mínima para considerar una alerta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27064" y="2148840"/>
            <a:ext cx="5148072" cy="3136392"/>
          </a:xfrm>
          <a:prstGeom prst="roundRect">
            <a:avLst>
              <a:gd name="adj" fmla="val 6414"/>
            </a:avLst>
          </a:prstGeom>
          <a:solidFill>
            <a:srgbClr val="FFFFFF"/>
          </a:solidFill>
          <a:ln w="8890">
            <a:solidFill>
              <a:srgbClr val="DAEA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487168"/>
            <a:ext cx="4206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5800" dirty="0"/>
          </a:p>
        </p:txBody>
      </p:sp>
      <p:sp>
        <p:nvSpPr>
          <p:cNvPr id="15" name="Text 13"/>
          <p:cNvSpPr/>
          <p:nvPr/>
        </p:nvSpPr>
        <p:spPr>
          <a:xfrm>
            <a:off x="6583680" y="3758184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Lecturas consecutivas de la misma clase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51560" y="5760720"/>
            <a:ext cx="10131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5B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Parámetros de decisión, NO porcentajes de exactitud del sistema.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8567"/>
          </a:solidFill>
          <a:ln w="12700">
            <a:solidFill>
              <a:srgbClr val="1685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6517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CAMINOSEGURO  /  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75320" y="26517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PRELIMINAR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92840" y="652881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85216" y="822960"/>
            <a:ext cx="566928" cy="384048"/>
          </a:xfrm>
          <a:prstGeom prst="roundRect">
            <a:avLst>
              <a:gd name="adj" fmla="val 33333"/>
            </a:avLst>
          </a:prstGeom>
          <a:solidFill>
            <a:srgbClr val="E3F4EB"/>
          </a:solidFill>
          <a:ln w="8890">
            <a:solidFill>
              <a:srgbClr val="E3F4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90525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07592" y="722376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ya vimos funcionar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07592" y="135331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Ensayos exploratorios en vista previa de Teachable Machine con imágenes nuevas.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4088" y="1856232"/>
            <a:ext cx="3822192" cy="41330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8890">
            <a:solidFill>
              <a:srgbClr val="DAEAE2"/>
            </a:solidFill>
            <a:prstDash val="solid"/>
          </a:ln>
        </p:spPr>
      </p:sp>
      <p:pic>
        <p:nvPicPr>
          <p:cNvPr id="11" name="Image 0" descr="/mnt/data/image(5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947672"/>
            <a:ext cx="2423160" cy="32004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96696" y="533095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Obstáculo: 100 %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4681728" y="1856232"/>
            <a:ext cx="3172968" cy="4133088"/>
          </a:xfrm>
          <a:prstGeom prst="roundRect">
            <a:avLst>
              <a:gd name="adj" fmla="val 6340"/>
            </a:avLst>
          </a:prstGeom>
          <a:solidFill>
            <a:srgbClr val="FFFFFF"/>
          </a:solidFill>
          <a:ln w="8890">
            <a:solidFill>
              <a:srgbClr val="DAEAE2"/>
            </a:solidFill>
            <a:prstDash val="solid"/>
          </a:ln>
        </p:spPr>
      </p:sp>
      <p:pic>
        <p:nvPicPr>
          <p:cNvPr id="14" name="Image 1" descr="/mnt/data/image(8)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1965960"/>
            <a:ext cx="1938528" cy="31912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73752" y="5330952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Desnivel: 100 %</a:t>
            </a:r>
            <a:endParaRPr lang="en-US" sz="1900" dirty="0"/>
          </a:p>
        </p:txBody>
      </p:sp>
      <p:sp>
        <p:nvSpPr>
          <p:cNvPr id="16" name="Shape 12"/>
          <p:cNvSpPr/>
          <p:nvPr/>
        </p:nvSpPr>
        <p:spPr>
          <a:xfrm>
            <a:off x="8010144" y="1856232"/>
            <a:ext cx="3511296" cy="4133088"/>
          </a:xfrm>
          <a:prstGeom prst="roundRect">
            <a:avLst>
              <a:gd name="adj" fmla="val 5729"/>
            </a:avLst>
          </a:prstGeom>
          <a:solidFill>
            <a:srgbClr val="FFFFFF"/>
          </a:solidFill>
          <a:ln w="8890">
            <a:solidFill>
              <a:srgbClr val="DAEAE2"/>
            </a:solidFill>
            <a:prstDash val="solid"/>
          </a:ln>
        </p:spPr>
      </p:sp>
      <p:pic>
        <p:nvPicPr>
          <p:cNvPr id="17" name="Image 2" descr="/mnt/data/image(9)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1975104"/>
            <a:ext cx="2176272" cy="31912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38744" y="533095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Calle: 100 %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8567"/>
          </a:solidFill>
          <a:ln w="12700">
            <a:solidFill>
              <a:srgbClr val="1685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6517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CAMINOSEGURO  /  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75320" y="26517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LIMITACIONES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92840" y="652881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85216" y="822960"/>
            <a:ext cx="566928" cy="384048"/>
          </a:xfrm>
          <a:prstGeom prst="roundRect">
            <a:avLst>
              <a:gd name="adj" fmla="val 33333"/>
            </a:avLst>
          </a:prstGeom>
          <a:solidFill>
            <a:srgbClr val="E3F4EB"/>
          </a:solidFill>
          <a:ln w="8890">
            <a:solidFill>
              <a:srgbClr val="E3F4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90525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07592" y="722376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 transparentes es parte de innovar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07592" y="135331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prototipo funciona, pero todavía no está validado como ayuda segura para desplazarse.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13232" y="1993392"/>
            <a:ext cx="3429000" cy="1298448"/>
          </a:xfrm>
          <a:prstGeom prst="roundRect">
            <a:avLst>
              <a:gd name="adj" fmla="val 15493"/>
            </a:avLst>
          </a:prstGeom>
          <a:solidFill>
            <a:srgbClr val="FFFFFF"/>
          </a:solidFill>
          <a:ln w="8890">
            <a:solidFill>
              <a:srgbClr val="DAEA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2157984"/>
            <a:ext cx="521208" cy="384048"/>
          </a:xfrm>
          <a:prstGeom prst="roundRect">
            <a:avLst>
              <a:gd name="adj" fmla="val 33333"/>
            </a:avLst>
          </a:prstGeom>
          <a:solidFill>
            <a:srgbClr val="E3F4EB"/>
          </a:solidFill>
          <a:ln w="8890">
            <a:solidFill>
              <a:srgbClr val="E3F4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240280"/>
            <a:ext cx="265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6112" y="262432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Escaleras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96112" y="298094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confundir subida y bajada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79976" y="1993392"/>
            <a:ext cx="3429000" cy="1298448"/>
          </a:xfrm>
          <a:prstGeom prst="roundRect">
            <a:avLst>
              <a:gd name="adj" fmla="val 15493"/>
            </a:avLst>
          </a:prstGeom>
          <a:solidFill>
            <a:srgbClr val="FFFFFF"/>
          </a:solidFill>
          <a:ln w="8890">
            <a:solidFill>
              <a:srgbClr val="DAEA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62856" y="2157984"/>
            <a:ext cx="521208" cy="384048"/>
          </a:xfrm>
          <a:prstGeom prst="roundRect">
            <a:avLst>
              <a:gd name="adj" fmla="val 33333"/>
            </a:avLst>
          </a:prstGeom>
          <a:solidFill>
            <a:srgbClr val="E3F4EB"/>
          </a:solidFill>
          <a:ln w="8890">
            <a:solidFill>
              <a:srgbClr val="E3F4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0872" y="2240280"/>
            <a:ext cx="265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62856" y="262432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Obstáculos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62856" y="298094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algunos casos responde con exceso de sensibilidad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28432" y="1993392"/>
            <a:ext cx="3429000" cy="1298448"/>
          </a:xfrm>
          <a:prstGeom prst="roundRect">
            <a:avLst>
              <a:gd name="adj" fmla="val 15493"/>
            </a:avLst>
          </a:prstGeom>
          <a:solidFill>
            <a:srgbClr val="FFFFFF"/>
          </a:solidFill>
          <a:ln w="8890">
            <a:solidFill>
              <a:srgbClr val="DAEA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11312" y="2157984"/>
            <a:ext cx="521208" cy="384048"/>
          </a:xfrm>
          <a:prstGeom prst="roundRect">
            <a:avLst>
              <a:gd name="adj" fmla="val 33333"/>
            </a:avLst>
          </a:prstGeom>
          <a:solidFill>
            <a:srgbClr val="E3F4EB"/>
          </a:solidFill>
          <a:ln w="8890">
            <a:solidFill>
              <a:srgbClr val="E3F4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39328" y="2240280"/>
            <a:ext cx="265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11312" y="262432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Distancia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11312" y="298094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Todavía no estima qué tan lejos está un riesgo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33272" y="3968496"/>
            <a:ext cx="10094976" cy="1508760"/>
          </a:xfrm>
          <a:prstGeom prst="roundRect">
            <a:avLst>
              <a:gd name="adj" fmla="val 12121"/>
            </a:avLst>
          </a:prstGeom>
          <a:solidFill>
            <a:srgbClr val="FBF5E8"/>
          </a:solidFill>
          <a:ln w="8890">
            <a:solidFill>
              <a:srgbClr val="EEDDB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35608" y="4343400"/>
            <a:ext cx="9326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Aún no hay una matriz de confusión completa ni pruebas con personas con discapacidad visual.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8567"/>
          </a:solidFill>
          <a:ln w="12700">
            <a:solidFill>
              <a:srgbClr val="1685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6517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CAMINOSEGURO  /  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75320" y="26517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HOJA DE RUTA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92840" y="652881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85216" y="822960"/>
            <a:ext cx="566928" cy="384048"/>
          </a:xfrm>
          <a:prstGeom prst="roundRect">
            <a:avLst>
              <a:gd name="adj" fmla="val 33333"/>
            </a:avLst>
          </a:prstGeom>
          <a:solidFill>
            <a:srgbClr val="E3F4EB"/>
          </a:solidFill>
          <a:ln w="8890">
            <a:solidFill>
              <a:srgbClr val="E3F4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90525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07592" y="722376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prototipo académico a herramienta útil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07592" y="135331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evolución para continuar el proyecto durante el resto de la materia.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1828800"/>
            <a:ext cx="10625328" cy="850392"/>
          </a:xfrm>
          <a:prstGeom prst="roundRect">
            <a:avLst>
              <a:gd name="adj" fmla="val 23656"/>
            </a:avLst>
          </a:prstGeom>
          <a:solidFill>
            <a:srgbClr val="FFFFFF"/>
          </a:solidFill>
          <a:ln w="8890">
            <a:solidFill>
              <a:srgbClr val="DAEA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3272" y="2048256"/>
            <a:ext cx="502920" cy="384048"/>
          </a:xfrm>
          <a:prstGeom prst="roundRect">
            <a:avLst>
              <a:gd name="adj" fmla="val 33333"/>
            </a:avLst>
          </a:prstGeom>
          <a:solidFill>
            <a:srgbClr val="E3F4EB"/>
          </a:solidFill>
          <a:ln w="8890">
            <a:solidFill>
              <a:srgbClr val="E3F4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2130552"/>
            <a:ext cx="246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47088" y="2029968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858768" y="1984248"/>
            <a:ext cx="69677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nuevas, matriz de confusión y tiempos de alerta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7240" y="2852928"/>
            <a:ext cx="10625328" cy="850392"/>
          </a:xfrm>
          <a:prstGeom prst="roundRect">
            <a:avLst>
              <a:gd name="adj" fmla="val 23656"/>
            </a:avLst>
          </a:prstGeom>
          <a:solidFill>
            <a:srgbClr val="E3F4EB"/>
          </a:solidFill>
          <a:ln w="8890">
            <a:solidFill>
              <a:srgbClr val="DAEA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33272" y="3072384"/>
            <a:ext cx="502920" cy="384048"/>
          </a:xfrm>
          <a:prstGeom prst="roundRect">
            <a:avLst>
              <a:gd name="adj" fmla="val 33333"/>
            </a:avLst>
          </a:prstGeom>
          <a:solidFill>
            <a:srgbClr val="E3F4EB"/>
          </a:solidFill>
          <a:ln w="8890">
            <a:solidFill>
              <a:srgbClr val="E3F4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61288" y="3154680"/>
            <a:ext cx="246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47088" y="3054096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MEJORAR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858768" y="3008376"/>
            <a:ext cx="69677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diversidad de datos y mejor distinción entre clases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77240" y="3877056"/>
            <a:ext cx="10625328" cy="850392"/>
          </a:xfrm>
          <a:prstGeom prst="roundRect">
            <a:avLst>
              <a:gd name="adj" fmla="val 23656"/>
            </a:avLst>
          </a:prstGeom>
          <a:solidFill>
            <a:srgbClr val="FFFFFF"/>
          </a:solidFill>
          <a:ln w="8890">
            <a:solidFill>
              <a:srgbClr val="DAEA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3272" y="4096512"/>
            <a:ext cx="502920" cy="384048"/>
          </a:xfrm>
          <a:prstGeom prst="roundRect">
            <a:avLst>
              <a:gd name="adj" fmla="val 33333"/>
            </a:avLst>
          </a:prstGeom>
          <a:solidFill>
            <a:srgbClr val="E3F4EB"/>
          </a:solidFill>
          <a:ln w="8890">
            <a:solidFill>
              <a:srgbClr val="E3F4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61288" y="4178808"/>
            <a:ext cx="246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47088" y="4078224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ESTIMAR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858768" y="4032504"/>
            <a:ext cx="69677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Añadir cálculo de distancia y priorización de peligros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77240" y="4901184"/>
            <a:ext cx="10625328" cy="850392"/>
          </a:xfrm>
          <a:prstGeom prst="roundRect">
            <a:avLst>
              <a:gd name="adj" fmla="val 23656"/>
            </a:avLst>
          </a:prstGeom>
          <a:solidFill>
            <a:srgbClr val="E3F4EB"/>
          </a:solidFill>
          <a:ln w="8890">
            <a:solidFill>
              <a:srgbClr val="DAEA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33272" y="5120640"/>
            <a:ext cx="502920" cy="384048"/>
          </a:xfrm>
          <a:prstGeom prst="roundRect">
            <a:avLst>
              <a:gd name="adj" fmla="val 33333"/>
            </a:avLst>
          </a:prstGeom>
          <a:solidFill>
            <a:srgbClr val="E3F4EB"/>
          </a:solidFill>
          <a:ln w="8890">
            <a:solidFill>
              <a:srgbClr val="E3F4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61288" y="5202936"/>
            <a:ext cx="246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847088" y="5102352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PROBAR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3858768" y="5056632"/>
            <a:ext cx="69677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Evaluar usabilidad y seguridad de manera supervisada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8567"/>
          </a:solidFill>
          <a:ln w="12700">
            <a:solidFill>
              <a:srgbClr val="1685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6517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CAMINOSEGURO  /  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75320" y="26517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/ PROPUESTA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92840" y="652881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179576"/>
            <a:ext cx="10753344" cy="4434840"/>
          </a:xfrm>
          <a:prstGeom prst="roundRect">
            <a:avLst>
              <a:gd name="adj" fmla="val 4536"/>
            </a:avLst>
          </a:prstGeom>
          <a:solidFill>
            <a:srgbClr val="FFFFFF"/>
          </a:solidFill>
          <a:ln w="8890">
            <a:solidFill>
              <a:srgbClr val="DAEA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" y="1481328"/>
            <a:ext cx="1645920" cy="384048"/>
          </a:xfrm>
          <a:prstGeom prst="roundRect">
            <a:avLst>
              <a:gd name="adj" fmla="val 33333"/>
            </a:avLst>
          </a:prstGeom>
          <a:solidFill>
            <a:srgbClr val="E3F4EB"/>
          </a:solidFill>
          <a:ln w="8890">
            <a:solidFill>
              <a:srgbClr val="E3F4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56362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PROPUESTA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8992" y="2139696"/>
            <a:ext cx="100035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queremos que una persona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b="1" dirty="0">
                <a:solidFill>
                  <a:srgbClr val="13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tenga que adivinar su próximo paso.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1417320" y="4215384"/>
            <a:ext cx="93177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CaminoSeguro IA ya demuestra una base técnica.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68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Solicito continuar su desarrollo y validación en la materia.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24712" y="5989320"/>
            <a:ext cx="10003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882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Cabrera Gutiérrez  ·  Inteligencia Artificial  ·  UCB San Pablo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CaminoSeguro IA — Presentación de proyecto</dc:title>
  <dc:subject>Defensa de CaminoSeguro IA</dc:subject>
  <dc:creator>Ana Cabrera Gutiérrez</dc:creator>
  <cp:lastModifiedBy>Ana Cabrera Gutiérrez</cp:lastModifiedBy>
  <cp:revision>1</cp:revision>
  <dcterms:created xsi:type="dcterms:W3CDTF">2026-10-17T02:59:58Z</dcterms:created>
  <dcterms:modified xsi:type="dcterms:W3CDTF">2026-10-17T02:59:58Z</dcterms:modified>
</cp:coreProperties>
</file>